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051560"/>
            <a:ext cx="914400" cy="914400"/>
          </a:xfrm>
          <a:prstGeom prst="ellipse">
            <a:avLst/>
          </a:prstGeom>
          <a:solidFill>
            <a:srgbClr val="16304F"/>
          </a:solidFill>
          <a:ln w="19050">
            <a:solidFill>
              <a:srgbClr val="C9A4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488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30632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连锁集团 · 云上管控平台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总部统一管理 · 门店独立运营 · 经营数据实时汇总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93876" y="4937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93876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直连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59836" y="4937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59836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超卖防护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25796" y="4937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25796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客房清洁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91756" y="4937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91756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夜审日结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57716" y="4937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57716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发票管理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一站式连锁酒店运营平台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覆盖酒店日常经营的核心业务闭环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5820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B5A9C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" y="1828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07692" y="18288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82012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B5A9C"/>
          </a:solidFill>
          <a:ln/>
        </p:spPr>
      </p:sp>
      <p:sp>
        <p:nvSpPr>
          <p:cNvPr id="9" name="Text 7"/>
          <p:cNvSpPr/>
          <p:nvPr/>
        </p:nvSpPr>
        <p:spPr>
          <a:xfrm>
            <a:off x="2382012" y="1828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43884" y="18288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18204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B5A9C"/>
          </a:solidFill>
          <a:ln/>
        </p:spPr>
      </p:sp>
      <p:sp>
        <p:nvSpPr>
          <p:cNvPr id="12" name="Text 10"/>
          <p:cNvSpPr/>
          <p:nvPr/>
        </p:nvSpPr>
        <p:spPr>
          <a:xfrm>
            <a:off x="3918204" y="1828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在住管理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80076" y="18288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54396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B5A9C"/>
          </a:solidFill>
          <a:ln/>
        </p:spPr>
      </p:sp>
      <p:sp>
        <p:nvSpPr>
          <p:cNvPr id="15" name="Text 13"/>
          <p:cNvSpPr/>
          <p:nvPr/>
        </p:nvSpPr>
        <p:spPr>
          <a:xfrm>
            <a:off x="5454396" y="1828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6268" y="18288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0588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C9A4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90588" y="1828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客房清洁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2460" y="18288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26780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C9A45C"/>
          </a:solidFill>
          <a:ln/>
        </p:spPr>
      </p:sp>
      <p:sp>
        <p:nvSpPr>
          <p:cNvPr id="21" name="Text 19"/>
          <p:cNvSpPr/>
          <p:nvPr/>
        </p:nvSpPr>
        <p:spPr>
          <a:xfrm>
            <a:off x="8526780" y="1828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88652" y="18288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62972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B5A9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62972" y="1828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报表分析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" y="3383280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7280" y="3657600"/>
            <a:ext cx="640080" cy="640080"/>
          </a:xfrm>
          <a:prstGeom prst="ellipse">
            <a:avLst/>
          </a:prstGeom>
          <a:solidFill>
            <a:srgbClr val="2B5A9C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3822192"/>
            <a:ext cx="310896" cy="31089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8745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云端部署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09728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云端托管，浏览器即用，多门店实时同步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480560" y="3383280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3657600"/>
            <a:ext cx="640080" cy="640080"/>
          </a:xfrm>
          <a:prstGeom prst="ellipse">
            <a:avLst/>
          </a:prstGeom>
          <a:solidFill>
            <a:srgbClr val="2B5A9C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3822192"/>
            <a:ext cx="310896" cy="31089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5321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连锁管控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475488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总部统一标准，门店独立运营，权限分级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138160" y="3383280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412480" y="3657600"/>
            <a:ext cx="640080" cy="640080"/>
          </a:xfrm>
          <a:prstGeom prst="ellipse">
            <a:avLst/>
          </a:prstGeom>
          <a:solidFill>
            <a:srgbClr val="2B5A9C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3822192"/>
            <a:ext cx="310896" cy="31089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1897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841248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营收、入住率、房态分布实时汇总分析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直击连锁酒店经营痛点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3291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828800"/>
            <a:ext cx="658368" cy="658368"/>
          </a:xfrm>
          <a:prstGeom prst="ellipse">
            <a:avLst/>
          </a:prstGeom>
          <a:solidFill>
            <a:srgbClr val="C9A4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011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8288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直连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房态房价订单自动同步，空房上架、售罄下架、自动防超卖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1554480"/>
            <a:ext cx="3291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828800"/>
            <a:ext cx="658368" cy="658368"/>
          </a:xfrm>
          <a:prstGeom prst="ellipse">
            <a:avLst/>
          </a:prstGeom>
          <a:solidFill>
            <a:srgbClr val="2B5A9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8288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客房清洁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5488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退房自动派单，清洁进度追踪，查房通过自动上架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1554480"/>
            <a:ext cx="3291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1828800"/>
            <a:ext cx="658368" cy="658368"/>
          </a:xfrm>
          <a:prstGeom prst="ellipse">
            <a:avLst/>
          </a:prstGeom>
          <a:solidFill>
            <a:srgbClr val="3D7B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011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18288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夜审日结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1248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每日自动对账，异常检测，营业日锁定防篡改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651760" y="3977640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926080" y="4251960"/>
            <a:ext cx="658368" cy="658368"/>
          </a:xfrm>
          <a:prstGeom prst="ellipse">
            <a:avLst/>
          </a:prstGeom>
          <a:solidFill>
            <a:srgbClr val="6B5B9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4348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49040" y="4251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发票管理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292608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抬头记忆、关联账单开票、发票号自动生成、可追溯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09360" y="3977640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83680" y="4251960"/>
            <a:ext cx="658368" cy="658368"/>
          </a:xfrm>
          <a:prstGeom prst="ellipse">
            <a:avLst/>
          </a:prstGeom>
          <a:solidFill>
            <a:srgbClr val="8A6D3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43484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06640" y="4251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连锁管控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658368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总部统一标准，门店独立运营，数据实时汇总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直连 · 房态自动上下架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 / 同程 / 携程 / 飞猪 全自动同步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房态变化 → 自动触发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3D7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848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客人入住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5808" y="20848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C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3D7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退房清洁完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35808" y="25603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C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35808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3D7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改房态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35808" y="30358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C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3D7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11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维修/预留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35808" y="3511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C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084832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C9A45C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084832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自动计算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可售房量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B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可售 &gt; 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9224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EAF6E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B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 open（上架）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BB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显示有房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可售 = 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 close（下架）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5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显示售罄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10607040" cy="1463040"/>
          </a:xfrm>
          <a:prstGeom prst="rect">
            <a:avLst/>
          </a:prstGeom>
          <a:solidFill>
            <a:srgbClr val="0E1F33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4434840"/>
            <a:ext cx="411480" cy="411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828800" y="427939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传统酒店：专人盯着各 OTA 后台手动开关房、手动改价，稍一疏忽就超卖或漏上架。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828800" y="48006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本系统：全自动同步，房态变化秒级推送到各平台，零人工干预。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直连 · 超卖自动防护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最后一间房多渠道同时来单，系统自动拦截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029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5029200" cy="640080"/>
          </a:xfrm>
          <a:prstGeom prst="rect">
            <a:avLst/>
          </a:prstGeom>
          <a:solidFill>
            <a:srgbClr val="E855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PMS（无防护）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60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美团、同程同时来单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108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两单都接，只剩 1 间房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657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客人到店没房 = 超卖事故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88720" y="4297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 · 赔款 · 平台降权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309360" y="1645920"/>
            <a:ext cx="5029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09360" y="1645920"/>
            <a:ext cx="5029200" cy="640080"/>
          </a:xfrm>
          <a:prstGeom prst="rect">
            <a:avLst/>
          </a:prstGeom>
          <a:solidFill>
            <a:srgbClr val="3BB273"/>
          </a:solidFill>
          <a:ln/>
        </p:spPr>
      </p:sp>
      <p:sp>
        <p:nvSpPr>
          <p:cNvPr id="17" name="Text 12"/>
          <p:cNvSpPr/>
          <p:nvPr/>
        </p:nvSpPr>
        <p:spPr>
          <a:xfrm>
            <a:off x="6309360" y="1645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本系统（配额防护）</a:t>
            </a:r>
            <a:endParaRPr lang="en-US" sz="1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603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每渠道设可售配额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1089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接单原子扣配额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5760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7804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B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配额不足自动拒单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675120" y="4206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「配额不足，超卖防护」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675120" y="4709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B2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零超卖，零事故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直连 · 订单自动同步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平台下单自动进系统，一键转 PMS 预订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2240280"/>
            <a:ext cx="822960" cy="822960"/>
          </a:xfrm>
          <a:prstGeom prst="ellipse">
            <a:avLst/>
          </a:prstGeom>
          <a:solidFill>
            <a:srgbClr val="2B5A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客人在 OTA 下单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美团/同程等平台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5C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11880" y="201168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240280"/>
            <a:ext cx="822960" cy="822960"/>
          </a:xfrm>
          <a:prstGeom prst="ellipse">
            <a:avLst/>
          </a:prstGeom>
          <a:solidFill>
            <a:srgbClr val="2B5A9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423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自动进入系统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490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回调/定时拉取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08076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5C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0" y="201168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23760" y="2240280"/>
            <a:ext cx="822960" cy="822960"/>
          </a:xfrm>
          <a:prstGeom prst="ellipse">
            <a:avLst/>
          </a:prstGeom>
          <a:solidFill>
            <a:srgbClr val="3BB27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4231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一键接单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3796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自动扣配额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86968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5C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189720" y="201168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012680" y="2240280"/>
            <a:ext cx="822960" cy="822960"/>
          </a:xfrm>
          <a:prstGeom prst="ellipse">
            <a:avLst/>
          </a:prstGeom>
          <a:solidFill>
            <a:srgbClr val="2B5A9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4231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PMS 预订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2688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渠道自动标记 OTA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22960" y="4846320"/>
            <a:ext cx="10607040" cy="109728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29" name="Text 23"/>
          <p:cNvSpPr/>
          <p:nvPr/>
        </p:nvSpPr>
        <p:spPr>
          <a:xfrm>
            <a:off x="1188720" y="5074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订单信息（客人、电话、日期、房型、金额）全程自动流转，前台无需手工录入，杜绝抄错、漏单。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客房清洁管理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退房自动派单，清洁进度一目了然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" y="210312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8A97A8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待分配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24328" y="2103120"/>
            <a:ext cx="356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62656" y="210312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2B5A9C"/>
          </a:solidFill>
          <a:ln/>
        </p:spPr>
      </p:sp>
      <p:sp>
        <p:nvSpPr>
          <p:cNvPr id="9" name="Text 7"/>
          <p:cNvSpPr/>
          <p:nvPr/>
        </p:nvSpPr>
        <p:spPr>
          <a:xfrm>
            <a:off x="2962656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已分配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18888" y="2103120"/>
            <a:ext cx="356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57216" y="210312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E6A23C"/>
          </a:solidFill>
          <a:ln/>
        </p:spPr>
      </p:sp>
      <p:sp>
        <p:nvSpPr>
          <p:cNvPr id="12" name="Text 10"/>
          <p:cNvSpPr/>
          <p:nvPr/>
        </p:nvSpPr>
        <p:spPr>
          <a:xfrm>
            <a:off x="5157216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3448" y="2103120"/>
            <a:ext cx="356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51776" y="210312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/>
        </p:spPr>
      </p:sp>
      <p:sp>
        <p:nvSpPr>
          <p:cNvPr id="15" name="Text 13"/>
          <p:cNvSpPr/>
          <p:nvPr/>
        </p:nvSpPr>
        <p:spPr>
          <a:xfrm>
            <a:off x="7351776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待查房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08008" y="2103120"/>
            <a:ext cx="356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46336" y="210312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3BB273"/>
          </a:solidFill>
          <a:ln/>
        </p:spPr>
      </p:sp>
      <p:sp>
        <p:nvSpPr>
          <p:cNvPr id="18" name="Text 16"/>
          <p:cNvSpPr/>
          <p:nvPr/>
        </p:nvSpPr>
        <p:spPr>
          <a:xfrm>
            <a:off x="9546336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63040" y="3429000"/>
            <a:ext cx="9235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E1F33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91640" y="3520440"/>
            <a:ext cx="475488" cy="475488"/>
          </a:xfrm>
          <a:prstGeom prst="ellipse">
            <a:avLst/>
          </a:prstGeom>
          <a:solidFill>
            <a:srgbClr val="C9A45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3630168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377440" y="34290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退房自动派单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480560" y="342900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客人退房，系统自动生成退房清洁任务，无需前台手动建单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463040" y="4279392"/>
            <a:ext cx="9235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E1F33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691640" y="4370832"/>
            <a:ext cx="475488" cy="475488"/>
          </a:xfrm>
          <a:prstGeom prst="ellipse">
            <a:avLst/>
          </a:prstGeom>
          <a:solidFill>
            <a:srgbClr val="C9A45C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4480560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377440" y="42793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分配服务员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4480560" y="42793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任务分配给具体服务员，工作量可统计、可考核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463040" y="5129784"/>
            <a:ext cx="9235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E1F33">
                <a:alpha val="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1691640" y="5221224"/>
            <a:ext cx="475488" cy="475488"/>
          </a:xfrm>
          <a:prstGeom prst="ellipse">
            <a:avLst/>
          </a:prstGeom>
          <a:solidFill>
            <a:srgbClr val="C9A45C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5330952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2377440" y="51297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查房通过自动上架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4480560" y="512978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领班查房通过，房间转空净，并自动推送 OTA 上架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财务规范化 · 夜审日结 + 发票管理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120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920240"/>
            <a:ext cx="731520" cy="731520"/>
          </a:xfrm>
          <a:prstGeom prst="ellipse">
            <a:avLst/>
          </a:prstGeom>
          <a:solidFill>
            <a:srgbClr val="0E1F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夜审管理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8803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8163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每日自动对账：营收/入住/退房/在住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44728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异常自动检测：超期未退、账单未结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01421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950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营业日锁定，财务数据不可篡改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309360" y="1645920"/>
            <a:ext cx="5120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583680" y="1920240"/>
            <a:ext cx="731520" cy="731520"/>
          </a:xfrm>
          <a:prstGeom prst="ellipse">
            <a:avLst/>
          </a:prstGeom>
          <a:solidFill>
            <a:srgbClr val="6B5B9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2121408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发票管理</a:t>
            </a:r>
            <a:endParaRPr lang="en-US" sz="2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88036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32320" y="28163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抬头管理：个人/企业，多抬头、默认抬头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447288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13232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关联账单一键开票，金额自动带出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4014216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132320" y="3950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发票号自动生成，作废、汇总可追溯</a:t>
            </a:r>
            <a:endParaRPr lang="en-US" sz="1300" dirty="0"/>
          </a:p>
        </p:txBody>
      </p:sp>
      <p:sp>
        <p:nvSpPr>
          <p:cNvPr id="24" name="Text 1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连锁集团统一管控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总部标准 · 门店独立 · 数据实时汇总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53128" y="173736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E1F33"/>
          </a:solidFill>
          <a:ln/>
        </p:spPr>
      </p:sp>
      <p:sp>
        <p:nvSpPr>
          <p:cNvPr id="6" name="Text 4"/>
          <p:cNvSpPr/>
          <p:nvPr/>
        </p:nvSpPr>
        <p:spPr>
          <a:xfrm>
            <a:off x="4453128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集团总部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48" y="2743200"/>
            <a:ext cx="0" cy="256032"/>
          </a:xfrm>
          <a:prstGeom prst="line">
            <a:avLst/>
          </a:prstGeom>
          <a:noFill/>
          <a:ln w="19050">
            <a:solidFill>
              <a:srgbClr val="5A6B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999232"/>
            <a:ext cx="8366760" cy="0"/>
          </a:xfrm>
          <a:prstGeom prst="line">
            <a:avLst/>
          </a:prstGeom>
          <a:noFill/>
          <a:ln w="19050">
            <a:solidFill>
              <a:srgbClr val="5A6B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2999232"/>
            <a:ext cx="0" cy="201168"/>
          </a:xfrm>
          <a:prstGeom prst="line">
            <a:avLst/>
          </a:prstGeom>
          <a:noFill/>
          <a:ln w="19050">
            <a:solidFill>
              <a:srgbClr val="5A6B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004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B5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00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总店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2999232"/>
            <a:ext cx="0" cy="201168"/>
          </a:xfrm>
          <a:prstGeom prst="line">
            <a:avLst/>
          </a:prstGeom>
          <a:noFill/>
          <a:ln w="19050">
            <a:solidFill>
              <a:srgbClr val="5A6B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32004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B5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3200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朝阳店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35240" y="2999232"/>
            <a:ext cx="0" cy="201168"/>
          </a:xfrm>
          <a:prstGeom prst="line">
            <a:avLst/>
          </a:prstGeom>
          <a:noFill/>
          <a:ln w="19050">
            <a:solidFill>
              <a:srgbClr val="5A6B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2004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B5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200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海淀店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424160" y="2999232"/>
            <a:ext cx="0" cy="201168"/>
          </a:xfrm>
          <a:prstGeom prst="line">
            <a:avLst/>
          </a:prstGeom>
          <a:noFill/>
          <a:ln w="19050">
            <a:solidFill>
              <a:srgbClr val="5A6B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32004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B5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3200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更多门店...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总部统一：会员 · 房价 · 渠道 · 品牌标准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4681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门店独立：日常接待 · 前台运营 · 互不干扰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57150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16304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715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前端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11880" y="57150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16304F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5715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后端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57150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16304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715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数据库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89720" y="57150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16304F"/>
          </a:solidFill>
          <a:ln/>
        </p:spPr>
      </p:sp>
      <p:sp>
        <p:nvSpPr>
          <p:cNvPr id="31" name="Text 29"/>
          <p:cNvSpPr/>
          <p:nvPr/>
        </p:nvSpPr>
        <p:spPr>
          <a:xfrm>
            <a:off x="9189720" y="5715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部署 / 云 SaaS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给客户演示的 4 步流程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 分钟，直观展示核心价值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68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103120"/>
            <a:ext cx="640080" cy="640080"/>
          </a:xfrm>
          <a:prstGeom prst="ellipse">
            <a:avLst/>
          </a:prstGeom>
          <a:solidFill>
            <a:srgbClr val="3BB273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空房自动上架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房态改空净 → 推送日志自动出现 open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11880" y="1828800"/>
            <a:ext cx="2468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2B5A9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订单自动同步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来单 → 接单 → 自动生成 PMS 预订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2468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2103120"/>
            <a:ext cx="640080" cy="640080"/>
          </a:xfrm>
          <a:prstGeom prst="ellipse">
            <a:avLst/>
          </a:prstGeom>
          <a:solidFill>
            <a:srgbClr val="E6A23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售罄自动下架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接单扣完配额 → 自动推 close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1828800"/>
            <a:ext cx="2468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04120" y="2103120"/>
            <a:ext cx="640080" cy="640080"/>
          </a:xfrm>
          <a:prstGeom prst="ellipse">
            <a:avLst/>
          </a:prstGeom>
          <a:solidFill>
            <a:srgbClr val="E8554D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2688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超卖自动防护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832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再接单 → 系统弹窗「配额不足」拒单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669280"/>
            <a:ext cx="10607040" cy="64008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56692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演示技巧：开两个窗口，左边操作房态图/OTA订单，右边看推送日志，客户能同时看到「操作」和「自动结果」。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为什么选择我们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从「人盯平台」到「系统全自动」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29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E1F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传统酒店的烦恼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146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50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专人盯各 OTA 后台手动开关房、改价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004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1363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订单手动录入，容易抄错漏单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8620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8221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超卖、客人到店没房，差评赔款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57200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0200" y="45079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财务日结靠手工算，数据易错难追溯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309360" y="1737360"/>
            <a:ext cx="5029200" cy="3931920"/>
          </a:xfrm>
          <a:prstGeom prst="rect">
            <a:avLst/>
          </a:prstGeom>
          <a:solidFill>
            <a:srgbClr val="0E1F33"/>
          </a:solidFill>
          <a:ln/>
        </p:spPr>
      </p:sp>
      <p:sp>
        <p:nvSpPr>
          <p:cNvPr id="16" name="Text 10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C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本系统全自动</a:t>
            </a:r>
            <a:endParaRPr lang="en-US" sz="17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51460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86600" y="2450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房态房价订单全自动同步各平台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200400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86600" y="31363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订单自动进系统，一键转预订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886200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86600" y="38221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配额防护，零超卖零事故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572000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086600" y="45079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夜审自动对账，数据有据可查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连锁集团云上管控平台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463040"/>
            <a:ext cx="914400" cy="914400"/>
          </a:xfrm>
          <a:prstGeom prst="ellipse">
            <a:avLst/>
          </a:prstGeom>
          <a:solidFill>
            <a:srgbClr val="16304F"/>
          </a:solidFill>
          <a:ln w="19050">
            <a:solidFill>
              <a:srgbClr val="C9A4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酒店管理系统 · 让连锁酒店运营更简单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演示地址：http://localhost:5173  ·  账号 admin / admin123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酒店管理系统产品介绍</dc:title>
  <dc:subject>PptxGenJS Presentation</dc:subject>
  <dc:creator>酒店管理系统</dc:creator>
  <cp:lastModifiedBy>酒店管理系统</cp:lastModifiedBy>
  <cp:revision>1</cp:revision>
  <dcterms:created xsi:type="dcterms:W3CDTF">2026-08-20T04:11:40Z</dcterms:created>
  <dcterms:modified xsi:type="dcterms:W3CDTF">2026-08-20T04:11:40Z</dcterms:modified>
</cp:coreProperties>
</file>